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presentation explains how the Research ERP runs the whole Ph.D. journey: who uses it, what each step does, who approves what, and how fees, examinations and records are 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ERP replaces paper files and spreadsheets. Every stage, from application to thesis results, is recorded in one place with a named person and a date against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person sees only the menus meant for their role. The administrator grants sub-menu rights to staff and the Dean. Accounts, the Vice Chancellor and the two COE sign-ins have fixed menus.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stages. Each stage opens only when the one before it is done, and the ERP holds a scholar back where the rules require it, for example promotion to the next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application window has to be closed before the shortlist can be completed. Steps 8 and 9 open together only after the letters step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stop a step being completed out of order or with outdated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sees allotted candidates from the approval. The candidate becomes a scholar of the ERP, and is counted in the register, only when the documents are verified and the checklist is submitted.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Recognition follows eligibility checks and RAB or Vice Chancellor approval. The vacancy list is kept inside the ERP so guides can be matched as scholars are admitted.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rule for scholars' documents and requests. The Dean cannot decide until the supervisor has approved. Either approver can reject with comments and the scholar submits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RAC and the thesis evaluators are not scholar submissions. They are initiated by the supervisor. The evaluator panel is confidential and scholars never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a fee in one place and it updates on the website, forms, letters and scholar pages. Fees already paid are not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registration to published results, with two separate COE roles so that the person who enters marks is not the person who freezes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 new batch is admitted, every batch is promoted. A scholar with any of these stays in the same semester. The office can tick Promote anyway for one scholar, which is how the annual fee is exempted case by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counts agree across the Scholar register, Scholar information and Registration numbers because they read the same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ERP keeps who did what and when. Files are in private storage and are never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decisions needed: codes from the COE, mail provider, acceptance test and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ERP  |  Presentation to the Vice Chancellor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OFFICE  |  PH.D. PROGRAMME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ERP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doctoral research office works, from application to viva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roles and controls  |  Presentation to the Vice Chancellor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34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34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34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34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34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34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portal for the whole Ph.D. journey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sign-in, each with its own menus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032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the admission selection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approval: Supervisor, then Dean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menus verified by Accounts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</a:t>
            </a:r>
            <a:pPr indent="0" marL="0">
              <a:buNone/>
            </a:pPr>
            <a:r>
              <a:rPr lang="en-US" sz="16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selection, admission, registration numbers, course-work examinations, committees, reports, synopsis, thesis and evaluators, fees, registers and printed records.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the ERP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8930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records; opens after the admission checklist is submitted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56032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70048" y="128930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scholars, requests, RAC and evaluator nominations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28930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office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and staff run admission and records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6656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76288" y="128930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requests, RAC and checks evaluator nominees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298094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or returns every fee payment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6032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70048" y="298094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Chancellor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registers; selects thesis evaluators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298094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COE: marks entry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marks; several sign-ins can work together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76656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76288" y="2980944"/>
            <a:ext cx="1700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COE: verification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freezes and submits the marks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scholar's journey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selection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entrance, merit list, guide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95728" y="214884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56032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004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document check, ERP sign-in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51760" y="128016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98848" y="214884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66344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7316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and course work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hall ticket, results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128016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01968" y="214884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76656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7628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 and Doctoral Committee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Nominated, approved, meetings held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0" y="128016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reports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and approved every period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395728" y="388620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56032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7004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Fee, submission, approval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651760" y="301752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498848" y="388620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66344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7316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and evaluation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Fee, submission, confidential panel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754880" y="301752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601968" y="388620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76656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7628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viva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closed on the register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58000" y="3017520"/>
            <a:ext cx="384048" cy="384048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 selection in nine steps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1508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261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of every application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55848" y="1508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1261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called for the entrance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1508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1261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tickets, seating, attendance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651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404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and interview marks by panel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246120" y="2331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5848" y="2651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2404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list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list and waiting list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035040" y="2331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2651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2404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list and guide allotment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794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3547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after the approval is recorded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246120" y="3474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55848" y="3794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3547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checked, checklist submitted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035040" y="3474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4768" y="3794760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629400" y="354787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list, archive, semester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 built into selection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8930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closed first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starts only after the application window is closed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55848" y="128930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arrangement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and seats filled in hall ticket order; room and seat printed on the ticket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44768" y="128930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before letters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 or Vice Chancellor approval is recorded; any later change makes it outdated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302666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candidates cannot be finished without a co-supervisor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55848" y="302666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vacant seat is offered to the next candidate on that subject's list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768" y="302666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follow status, hall ticket and letter with their application number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selected candidate to scholar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298448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1887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recorded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 or Vice Chancellor approves; guides see their candidates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1984248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874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letter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the Track application page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670048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5603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verified; a missing document gets 10 days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355848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246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sign-in opens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submitted; login details mailed; semester 1 begins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4041648"/>
            <a:ext cx="365760" cy="365760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931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and next session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list, archive of unselected files, next window opens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1887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6B1E2E"/>
          </a:solidFill>
          <a:ln w="9525">
            <a:solidFill>
              <a:srgbClr val="6B1E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132588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number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the Controller of Examinations.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once, batch by batch.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Permanent: it can never be changed or replaced, and every recording is kept in the audit trail.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recognition and the public profile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380744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applies online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395728" y="196596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560320" y="1325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70048" y="1380744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verifies eligibility and sets the guide quota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8848" y="196596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663440" y="1325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73168" y="1380744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 or Vice Chancellor approves the sheet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01968" y="196596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766560" y="1325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76288" y="1380744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vacancy list; sign-in and letter issued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2935224"/>
            <a:ext cx="380390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Supervisors page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per line: photograph, name, designation, department, area of research, a biography of up to 200 words and the Vidwan link.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73168" y="2935224"/>
            <a:ext cx="380390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list (inside the ERP)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 to the public. Reduced automatically as each candidate is admitted to a supervisor, so allotment always matches vacancy.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submission: Supervisor first, then Dean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89304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document or request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438912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383280" y="1234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93008" y="1289304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with comments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06440" y="1783080"/>
            <a:ext cx="438912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309360" y="1234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6B1E2E"/>
          </a:solidFill>
          <a:ln w="9525">
            <a:solidFill>
              <a:srgbClr val="6B1E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1289304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5720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2660904"/>
            <a:ext cx="3803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scholar sees who approved and when. The Approved copy PDF carries the supervisor's and the Dean's names, date and time on every page.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6344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168" y="2660904"/>
            <a:ext cx="3803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with comments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comment is mandatory and shown to the scholar, who corrects the document and submits it again.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the scholar sees: </a:t>
            </a:r>
            <a:pPr indent="0" marL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Supervisor, Approved by Supervisor (Submitted to Dean), Approved by Dean, Rejected by Supervisor, Rejected by Dean.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flows with their own approvals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Advisory Committee (RAC)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609344"/>
            <a:ext cx="21579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nominates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internal and 2 external members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80360" y="2029968"/>
            <a:ext cx="438912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93008" y="1609344"/>
            <a:ext cx="21579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approves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and one external member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06440" y="2029968"/>
            <a:ext cx="438912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30936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9088" y="1609344"/>
            <a:ext cx="21579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the supervisor and the scholar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evaluators (confidential)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3118104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proposes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Nine: 3 foreign, 3 Indian outside Tamil Nadu, 3 within it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80360" y="3657600"/>
            <a:ext cx="438912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383280" y="30632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93008" y="3118104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checks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against the thesis domain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06440" y="3657600"/>
            <a:ext cx="438912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09360" y="30632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6B1E2E"/>
          </a:solidFill>
          <a:ln w="9525">
            <a:solidFill>
              <a:srgbClr val="6B1E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9088" y="3118104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Chancellor selects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second and third choice in each group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Dean then records invitations; if a first choice declines, the next is approached.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Fees: one setting, verified by Accounts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89304"/>
            <a:ext cx="3803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settings (administrator)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fee, annual research fee (full time and part time), synopsis fee and thesis submission fee. A change shows automatically on the home page, application form, receipt, admission letter, scholar pages and Accounts screens.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663440" y="12344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73168" y="1289304"/>
            <a:ext cx="3803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verification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menus, each with Pending and Approved: Registration fee, Course-work registration fee, Annual fee, Synopsis fee, Thesis fee. Approve, or reject with a required comment; filter by year and date; export PDF or Excel.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6B1E2E"/>
          </a:solidFill>
          <a:ln w="9525">
            <a:solidFill>
              <a:srgbClr val="6B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a fee applies, the next option opens only after the payment is approved.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Course-work examinations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Set-up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Campuses, rooms, timetable, pass mark and grades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95728" y="214884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56032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004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picks the campus and pays the fee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51760" y="128016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98848" y="214884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66344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7316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approval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approves; hall ticket follows only then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128016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01968" y="214884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76656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76288" y="151790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 per scholar with papers, room and seat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0" y="128016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and attendance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plan; Present or Absent; absentee is AAA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395728" y="388620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56032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7004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entry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sign-ins, any number, working side by side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651760" y="301752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498848" y="388620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66344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7316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freeze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 with a note, or frozen and submitted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754880" y="301752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601968" y="3886200"/>
            <a:ext cx="146304" cy="0"/>
          </a:xfrm>
          <a:prstGeom prst="line">
            <a:avLst/>
          </a:prstGeom>
          <a:noFill/>
          <a:ln w="317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766560" y="3200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76288" y="3255264"/>
            <a:ext cx="1700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and results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board, then Pass, RA or AAA published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58000" y="3017520"/>
            <a:ext cx="384048" cy="384048"/>
          </a:xfrm>
          <a:prstGeom prst="ellipse">
            <a:avLst/>
          </a:prstGeom>
          <a:solidFill>
            <a:srgbClr val="6B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to the next semester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89304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work pending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cleared in semesters 1 and 2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46120" y="1234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55848" y="1289304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report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approved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1234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44768" y="1289304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constituted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660904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Doctoral Committee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 held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46120" y="2606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55848" y="2660904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or passed out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on the list, or supervisor on open exit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35040" y="2606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768" y="2660904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pending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admissions start in semester 1 automatically. From semester 2 onwards, promotion is done manually.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Registers, lists and printed records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list with Details on demand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cards filter the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Chancellor has read-only 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agree across every screen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exports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PDF on every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columns to export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can be sorted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Registration-number order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and attendance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black-and-white tables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A4 with header and footer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Absent on every sheet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plans for notice boards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Records, security and control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28930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menus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sign-in sees only its menus; the administrator grants sub-menu rights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55848" y="128930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carry the name, date and time; registration numbers are logged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44768" y="128930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file storage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a private store; opened only after sign-in through short-lived links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302666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saves every table; another restores a saved copy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55848" y="302666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step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clears that step's work so it is redone in full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EEF0"/>
          </a:solidFill>
          <a:ln w="9525">
            <a:solidFill>
              <a:srgbClr val="D9CD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768" y="3026664"/>
            <a:ext cx="24323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testing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a test session and nothing is left behind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 forward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and department codes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them so the registration number format can be completed with the COE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488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service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provider for notifications to candidates, scholars and supervisors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Accounts, COE and supervisors try their own screens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7033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and training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build, user accounts, short training for each role</a:t>
            </a:r>
            <a:endParaRPr lang="en-US" sz="18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ERP">
  <a:themeElements>
    <a:clrScheme name="Research ERP">
      <a:dk1>
        <a:srgbClr val="2A2A33"/>
      </a:dk1>
      <a:lt1>
        <a:srgbClr val="FFFFFF"/>
      </a:lt1>
      <a:dk2>
        <a:srgbClr val="6B1E2E"/>
      </a:dk2>
      <a:lt2>
        <a:srgbClr val="F4EEF0"/>
      </a:lt2>
      <a:accent1>
        <a:srgbClr val="6B1E2E"/>
      </a:accent1>
      <a:accent2>
        <a:srgbClr val="C8A24A"/>
      </a:accent2>
      <a:accent3>
        <a:srgbClr val="3E5C76"/>
      </a:accent3>
      <a:accent4>
        <a:srgbClr val="7A8B6F"/>
      </a:accent4>
      <a:accent5>
        <a:srgbClr val="9C4A5A"/>
      </a:accent5>
      <a:accent6>
        <a:srgbClr val="5B4B8A"/>
      </a:accent6>
      <a:hlink>
        <a:srgbClr val="6B1E2E"/>
      </a:hlink>
      <a:folHlink>
        <a:srgbClr val="5B4B8A"/>
      </a:folHlink>
    </a:clrScheme>
    <a:fontScheme name="Research ER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ERP - Workflows and working</dc:title>
  <dc:subject>PptxGenJS Presentation</dc:subject>
  <dc:creator>Research Office</dc:creator>
  <cp:lastModifiedBy>Research Office</cp:lastModifiedBy>
  <cp:revision>1</cp:revision>
  <dcterms:created xsi:type="dcterms:W3CDTF">2026-10-24T17:18:37Z</dcterms:created>
  <dcterms:modified xsi:type="dcterms:W3CDTF">2026-10-24T17:18:37Z</dcterms:modified>
</cp:coreProperties>
</file>