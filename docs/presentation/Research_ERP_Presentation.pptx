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This presentation explains how the Research ERP runs the whole Ph.D. journey: who uses it, what each step does, who approves what, and how fees, examinations and records are controlled.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ERP replaces paper files and spreadsheets. Every stage, from application to thesis results, is recorded in one place with a named person and a date against every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person sees only the menus meant for their role. The administrator grants sub-menu rights to staff and the Dean. Accounts, the Vice Chancellor and the two COE sign-ins have fixed menus.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stages. Each stage opens only when the one before it is done, and the ERP holds a scholar back where the rules require it, for example promotion to the next semester.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application window has to be closed before the shortlist can be completed. Steps 8 and 9 open together only after the letters step is complete.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rules stop a step being completed out of order or with outdated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guide sees allotted candidates from the approval. The candidate becomes a scholar of the ERP, and is counted in the register, only when the documents are verified and the checklist is submitted.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Recognition follows eligibility checks and RAB or Vice Chancellor approval. The vacancy list is kept inside the ERP so guides can be matched as scholars are admitted.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rule for scholars' documents and requests. The Dean cannot decide until the supervisor has approved. Either approver can reject with comments and the scholar submits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RAC and the thesis evaluators are not scholar submissions. They are initiated by the supervisor. The evaluator panel is confidential and scholars never see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Change a fee in one place and it updates on the website, forms, letters and scholar pages. Fees already paid are not 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registration to published results, with two separate COE roles so that the person who enters marks is not the person who freezes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a new batch is admitted, every batch is promoted. A scholar with any of these stays in the same semester. The office can tick Promote anyway for one scholar, which is how the annual fee is exempted case by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counts agree across the Scholar register, Scholar information and Registration numbers because they read the same records.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Supervisors page is generated on the server so that search engines can read every profile. Each supervisor has a page of their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ERP keeps who did what and when. Files are in private storage and are never public.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decisions needed: codes from the COE, mail provider, acceptance test and go-live.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ERP  |  Presentation to the Vice Chancellor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6B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OFFICE  |  PH.D. PROGRAMME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ERP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1E6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doctoral research office works, from application to viva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Workflows, roles and controls  |  Presentation to the Vice Chancellor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8A34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3200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8A34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91840" y="3200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8A34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63440" y="3200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8A34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work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035040" y="3200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8A34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06640" y="3200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8A344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portal for the whole Ph.D. journey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1920240" cy="1920240"/>
          </a:xfrm>
          <a:prstGeom prst="roundRect">
            <a:avLst>
              <a:gd name="adj" fmla="val 3810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3716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377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kinds of sign-in, each with its own menus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560320" y="1280160"/>
            <a:ext cx="1920240" cy="1920240"/>
          </a:xfrm>
          <a:prstGeom prst="roundRect">
            <a:avLst>
              <a:gd name="adj" fmla="val 3810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560320" y="13716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9" name="Text 6"/>
          <p:cNvSpPr txBox="1"/>
          <p:nvPr/>
        </p:nvSpPr>
        <p:spPr>
          <a:xfrm>
            <a:off x="2697480" y="2377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in the admission selection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663440" y="1280160"/>
            <a:ext cx="1920240" cy="1920240"/>
          </a:xfrm>
          <a:prstGeom prst="roundRect">
            <a:avLst>
              <a:gd name="adj" fmla="val 3810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13716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2377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approval: Supervisor, then Dean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766560" y="1280160"/>
            <a:ext cx="1920240" cy="1920240"/>
          </a:xfrm>
          <a:prstGeom prst="roundRect">
            <a:avLst>
              <a:gd name="adj" fmla="val 3810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13716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15" name="Text 12"/>
          <p:cNvSpPr txBox="1"/>
          <p:nvPr/>
        </p:nvSpPr>
        <p:spPr>
          <a:xfrm>
            <a:off x="6903720" y="2377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menus verified by Accounts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5204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Covers: </a:t>
            </a:r>
            <a:pPr indent="0" marL="0">
              <a:buNone/>
            </a:pPr>
            <a:r>
              <a:rPr lang="en-US" sz="16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and selection, admission, registration numbers, course-work examinations, committees, reports, synopsis, thesis and evaluators, fees, registers and printed records.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uses the ERP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234440"/>
            <a:ext cx="1920240" cy="1554480"/>
          </a:xfrm>
          <a:prstGeom prst="roundRect">
            <a:avLst>
              <a:gd name="adj" fmla="val 4706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6928" y="1289304"/>
            <a:ext cx="1700784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records; opens after the admission checklist is submitted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2560320" y="1234440"/>
            <a:ext cx="1920240" cy="1554480"/>
          </a:xfrm>
          <a:prstGeom prst="roundRect">
            <a:avLst>
              <a:gd name="adj" fmla="val 4706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670048" y="1289304"/>
            <a:ext cx="1700784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scholars, requests, RAC and evaluator nominations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63440" y="1234440"/>
            <a:ext cx="1920240" cy="1554480"/>
          </a:xfrm>
          <a:prstGeom prst="roundRect">
            <a:avLst>
              <a:gd name="adj" fmla="val 4706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73168" y="1289304"/>
            <a:ext cx="1700784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office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and staff run admission and records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766560" y="1234440"/>
            <a:ext cx="1920240" cy="1554480"/>
          </a:xfrm>
          <a:prstGeom prst="roundRect">
            <a:avLst>
              <a:gd name="adj" fmla="val 4706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76288" y="1289304"/>
            <a:ext cx="1700784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Dean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requests, RAC and checks evaluator nominees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7200" y="2926080"/>
            <a:ext cx="1920240" cy="1554480"/>
          </a:xfrm>
          <a:prstGeom prst="roundRect">
            <a:avLst>
              <a:gd name="adj" fmla="val 4706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66928" y="2980944"/>
            <a:ext cx="1700784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or returns every fee payment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2560320" y="2926080"/>
            <a:ext cx="1920240" cy="1554480"/>
          </a:xfrm>
          <a:prstGeom prst="roundRect">
            <a:avLst>
              <a:gd name="adj" fmla="val 4706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670048" y="2980944"/>
            <a:ext cx="1700784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Vice Chancellor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registers; selects thesis evaluators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663440" y="2926080"/>
            <a:ext cx="1920240" cy="1554480"/>
          </a:xfrm>
          <a:prstGeom prst="roundRect">
            <a:avLst>
              <a:gd name="adj" fmla="val 4706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773168" y="2980944"/>
            <a:ext cx="1700784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COE: marks entry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Enters marks; several sign-ins can work together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766560" y="2926080"/>
            <a:ext cx="1920240" cy="1554480"/>
          </a:xfrm>
          <a:prstGeom prst="roundRect">
            <a:avLst>
              <a:gd name="adj" fmla="val 4706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76288" y="2980944"/>
            <a:ext cx="1700784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COE: verification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Checks, freezes and submits the marks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scholar's journey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4630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6928" y="1517904"/>
            <a:ext cx="17007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and selection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Application, entrance, merit list, guide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384048" cy="384048"/>
          </a:xfrm>
          <a:prstGeom prst="ellipse">
            <a:avLst/>
          </a:prstGeom>
          <a:solidFill>
            <a:srgbClr val="C8A2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395728" y="2148840"/>
            <a:ext cx="146304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560320" y="14630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670048" y="1517904"/>
            <a:ext cx="17007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Letters, document check, ERP sign-in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651760" y="1280160"/>
            <a:ext cx="384048" cy="384048"/>
          </a:xfrm>
          <a:prstGeom prst="ellipse">
            <a:avLst/>
          </a:prstGeom>
          <a:solidFill>
            <a:srgbClr val="C8A2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498848" y="2148840"/>
            <a:ext cx="146304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4663440" y="14630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73168" y="1517904"/>
            <a:ext cx="17007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Semester 1 and course work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hall ticket, results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754880" y="1280160"/>
            <a:ext cx="384048" cy="384048"/>
          </a:xfrm>
          <a:prstGeom prst="ellipse">
            <a:avLst/>
          </a:prstGeom>
          <a:solidFill>
            <a:srgbClr val="C8A2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601968" y="2148840"/>
            <a:ext cx="146304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766560" y="14630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76288" y="1517904"/>
            <a:ext cx="17007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 and Doctoral Committee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Nominated, approved, meetings held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858000" y="1280160"/>
            <a:ext cx="384048" cy="384048"/>
          </a:xfrm>
          <a:prstGeom prst="ellipse">
            <a:avLst/>
          </a:prstGeom>
          <a:solidFill>
            <a:srgbClr val="C8A2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57200" y="320040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66928" y="3255264"/>
            <a:ext cx="17007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Six-month reports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and approved every period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48640" y="3017520"/>
            <a:ext cx="384048" cy="384048"/>
          </a:xfrm>
          <a:prstGeom prst="ellipse">
            <a:avLst/>
          </a:prstGeom>
          <a:solidFill>
            <a:srgbClr val="C8A2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395728" y="3886200"/>
            <a:ext cx="146304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2560320" y="320040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70048" y="3255264"/>
            <a:ext cx="17007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Synopsis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Fee, submission, approval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2651760" y="3017520"/>
            <a:ext cx="384048" cy="384048"/>
          </a:xfrm>
          <a:prstGeom prst="ellipse">
            <a:avLst/>
          </a:prstGeom>
          <a:solidFill>
            <a:srgbClr val="C8A2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4498848" y="3886200"/>
            <a:ext cx="146304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4663440" y="320040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73168" y="3255264"/>
            <a:ext cx="17007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and evaluation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Fee, submission, confidential panel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754880" y="3017520"/>
            <a:ext cx="384048" cy="384048"/>
          </a:xfrm>
          <a:prstGeom prst="ellipse">
            <a:avLst/>
          </a:prstGeom>
          <a:solidFill>
            <a:srgbClr val="C8A2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601968" y="3886200"/>
            <a:ext cx="146304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6766560" y="320040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76288" y="3255264"/>
            <a:ext cx="17007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and viva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closed on the register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858000" y="3017520"/>
            <a:ext cx="384048" cy="384048"/>
          </a:xfrm>
          <a:prstGeom prst="ellipse">
            <a:avLst/>
          </a:prstGeom>
          <a:solidFill>
            <a:srgbClr val="C8A2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Admission selection in nine steps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66928" y="1508760"/>
            <a:ext cx="365760" cy="365760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1261872"/>
            <a:ext cx="1965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Scrutiny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of every application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246120" y="118872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355848" y="1508760"/>
            <a:ext cx="365760" cy="365760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840480" y="1261872"/>
            <a:ext cx="1965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called for the entrance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035040" y="118872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144768" y="1508760"/>
            <a:ext cx="365760" cy="365760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1261872"/>
            <a:ext cx="1965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Entrance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 tickets, seating, attendance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57200" y="233172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2651760"/>
            <a:ext cx="365760" cy="365760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" y="2404872"/>
            <a:ext cx="1965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Entrance and interview marks by panel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246120" y="233172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55848" y="2651760"/>
            <a:ext cx="365760" cy="365760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40480" y="2404872"/>
            <a:ext cx="1965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Merit list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list and waiting list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035040" y="233172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44768" y="2651760"/>
            <a:ext cx="365760" cy="365760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629400" y="2404872"/>
            <a:ext cx="1965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list and guide allotment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457200" y="347472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66928" y="3794760"/>
            <a:ext cx="365760" cy="365760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51560" y="3547872"/>
            <a:ext cx="1965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after the approval is recorded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246120" y="347472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355848" y="3794760"/>
            <a:ext cx="365760" cy="365760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3547872"/>
            <a:ext cx="1965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checked, checklist submitted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6035040" y="347472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44768" y="3794760"/>
            <a:ext cx="365760" cy="365760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629400" y="3547872"/>
            <a:ext cx="19659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list, archive, semester 1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Safeguards built into selection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23444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6928" y="1289304"/>
            <a:ext cx="243230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closed first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starts only after the application window is closed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246120" y="123444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5848" y="1289304"/>
            <a:ext cx="243230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Seating arrangement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 and seats filled in hall ticket order; room and seat printed on the ticket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035040" y="123444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144768" y="1289304"/>
            <a:ext cx="243230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before letters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 or Vice Chancellor approval is recorded; any later change makes it outdated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97180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" y="3026664"/>
            <a:ext cx="243230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Co-supervisor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Interdisciplinary candidates cannot be finished without a co-supervisor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246120" y="297180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55848" y="3026664"/>
            <a:ext cx="243230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list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vacant seat is offered to the next candidate on that subject's list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35040" y="297180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44768" y="3026664"/>
            <a:ext cx="243230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application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follow status, hall ticket and letter with their application number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selected candidate to scholar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457200" y="1298448"/>
            <a:ext cx="365760" cy="365760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1005840" y="11887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recorded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 or Vice Chancellor approves; guides see their candidates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57200" y="1984248"/>
            <a:ext cx="365760" cy="365760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18745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letter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Downloaded from the Track application page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2670048"/>
            <a:ext cx="365760" cy="365760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5603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check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Originals verified; a missing document gets 10 days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7200" y="3355848"/>
            <a:ext cx="365760" cy="365760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32461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sign-in opens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submitted; login details mailed; semester 1 begins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57200" y="4041648"/>
            <a:ext cx="365760" cy="365760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3931920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and next session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list, archive of unselected files, next window opens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760720" y="1188720"/>
            <a:ext cx="2926080" cy="3337560"/>
          </a:xfrm>
          <a:prstGeom prst="roundRect">
            <a:avLst>
              <a:gd name="adj" fmla="val 2500"/>
            </a:avLst>
          </a:prstGeom>
          <a:solidFill>
            <a:srgbClr val="6B1E2E"/>
          </a:solidFill>
          <a:ln w="9525">
            <a:solidFill>
              <a:srgbClr val="6B1E2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0" y="1325880"/>
            <a:ext cx="2560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number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by the Controller of Examinations.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once, batch by batch.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Permanent: it can never be changed or replaced, and every recording is kept in the audit trail.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Supervisor recognition and the public profile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325880"/>
            <a:ext cx="1920240" cy="1280160"/>
          </a:xfrm>
          <a:prstGeom prst="roundRect">
            <a:avLst>
              <a:gd name="adj" fmla="val 5714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6928" y="1380744"/>
            <a:ext cx="17007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applies online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2395728" y="1965960"/>
            <a:ext cx="146304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7" name="Shape 4"/>
          <p:cNvSpPr/>
          <p:nvPr/>
        </p:nvSpPr>
        <p:spPr>
          <a:xfrm>
            <a:off x="2560320" y="1325880"/>
            <a:ext cx="1920240" cy="1280160"/>
          </a:xfrm>
          <a:prstGeom prst="roundRect">
            <a:avLst>
              <a:gd name="adj" fmla="val 5714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670048" y="1380744"/>
            <a:ext cx="17007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verifies eligibility and sets the guide quota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98848" y="1965960"/>
            <a:ext cx="146304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4663440" y="1325880"/>
            <a:ext cx="1920240" cy="1280160"/>
          </a:xfrm>
          <a:prstGeom prst="roundRect">
            <a:avLst>
              <a:gd name="adj" fmla="val 5714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73168" y="1380744"/>
            <a:ext cx="17007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 or Vice Chancellor approves the sheet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601968" y="1965960"/>
            <a:ext cx="146304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766560" y="1325880"/>
            <a:ext cx="1920240" cy="1280160"/>
          </a:xfrm>
          <a:prstGeom prst="roundRect">
            <a:avLst>
              <a:gd name="adj" fmla="val 5714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76288" y="1380744"/>
            <a:ext cx="17007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to the vacancy list; sign-in and letter issued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57200" y="28803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6928" y="2935224"/>
            <a:ext cx="380390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Supervisors page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profile per line: photograph, name, designation, department, area of research, a biography of up to 200 words and the Vidwan link.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63440" y="28803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73168" y="2935224"/>
            <a:ext cx="380390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Vacancy list (inside the ERP)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shown to the public. Reduced automatically as each candidate is admitted to a supervisor, so allotment always matches vacancy.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submission: Supervisor first, then Dean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234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6928" y="1289304"/>
            <a:ext cx="215798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Submits the document or request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2880360" y="1783080"/>
            <a:ext cx="438912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7" name="Shape 4"/>
          <p:cNvSpPr/>
          <p:nvPr/>
        </p:nvSpPr>
        <p:spPr>
          <a:xfrm>
            <a:off x="3383280" y="1234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93008" y="1289304"/>
            <a:ext cx="215798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or rejects with comments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06440" y="1783080"/>
            <a:ext cx="438912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6309360" y="12344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6B1E2E"/>
          </a:solidFill>
          <a:ln w="9525">
            <a:solidFill>
              <a:srgbClr val="6B1E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19088" y="1289304"/>
            <a:ext cx="215798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Dean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decision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57200" y="260604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66928" y="2660904"/>
            <a:ext cx="380390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scholar sees who approved and when. The Approved copy PDF carries the supervisor's and the Dean's names, date and time on every page.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663440" y="260604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73168" y="2660904"/>
            <a:ext cx="380390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with comments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comment is mandatory and shown to the scholar, who corrects the document and submits it again.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Statuses the scholar sees: </a:t>
            </a:r>
            <a:pPr indent="0" marL="0">
              <a:buNone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to Supervisor, Approved by Supervisor (Submitted to Dean), Approved by Dean, Rejected by Supervisor, Rejected by Dean.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flows with their own approvals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Advisory Committee (RAC)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457200" y="155448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609344"/>
            <a:ext cx="215798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nominates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internal and 2 external members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880360" y="2029968"/>
            <a:ext cx="438912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383280" y="155448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93008" y="1609344"/>
            <a:ext cx="215798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Dean approves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internal and one external member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806440" y="2029968"/>
            <a:ext cx="438912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6309360" y="155448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19088" y="1609344"/>
            <a:ext cx="215798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all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to the supervisor and the scholar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evaluators (confidential)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57200" y="3063240"/>
            <a:ext cx="2377440" cy="1188720"/>
          </a:xfrm>
          <a:prstGeom prst="roundRect">
            <a:avLst>
              <a:gd name="adj" fmla="val 6154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928" y="3118104"/>
            <a:ext cx="215798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proposes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Nine: 3 foreign, 3 Indian outside Tamil Nadu, 3 within it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880360" y="3657600"/>
            <a:ext cx="438912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3383280" y="3063240"/>
            <a:ext cx="2377440" cy="1188720"/>
          </a:xfrm>
          <a:prstGeom prst="roundRect">
            <a:avLst>
              <a:gd name="adj" fmla="val 6154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493008" y="3118104"/>
            <a:ext cx="215798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Dean checks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Specialisation against the thesis domain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806440" y="3657600"/>
            <a:ext cx="438912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309360" y="3063240"/>
            <a:ext cx="2377440" cy="1188720"/>
          </a:xfrm>
          <a:prstGeom prst="roundRect">
            <a:avLst>
              <a:gd name="adj" fmla="val 6154"/>
            </a:avLst>
          </a:prstGeom>
          <a:solidFill>
            <a:srgbClr val="6B1E2E"/>
          </a:solidFill>
          <a:ln w="9525">
            <a:solidFill>
              <a:srgbClr val="6B1E2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9088" y="3118104"/>
            <a:ext cx="215798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Vice Chancellor selects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First, second and third choice in each group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6A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Dean then records invitations; if a first choice declines, the next is approached.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Fees: one setting, verified by Accounts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23444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6928" y="1289304"/>
            <a:ext cx="3803904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settings (administrator)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fee, annual research fee (full time and part time), synopsis fee and thesis submission fee. A change shows automatically on the home page, application form, receipt, admission letter, scholar pages and Accounts screens.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663440" y="123444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773168" y="1289304"/>
            <a:ext cx="3803904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verification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menus, each with Pending and Approved: Registration fee, Course-work registration fee, Annual fee, Synopsis fee, Thesis fee. Approve, or reject with a required comment; filter by year and date; export PDF or Excel.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57200" y="35204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6B1E2E"/>
          </a:solidFill>
          <a:ln w="9525">
            <a:solidFill>
              <a:srgbClr val="6B1E2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3520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rule 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Wherever a fee applies, the next option opens only after the payment is approved.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Course-work examinations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4630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6928" y="1517904"/>
            <a:ext cx="17007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 first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adds subject code and title; registration cannot open without them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384048" cy="384048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395728" y="2148840"/>
            <a:ext cx="146304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560320" y="14630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670048" y="1517904"/>
            <a:ext cx="17007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 picks listed subjects and a campus, and pays the fee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651760" y="1280160"/>
            <a:ext cx="384048" cy="384048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498848" y="2148840"/>
            <a:ext cx="146304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4663440" y="14630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73168" y="1517904"/>
            <a:ext cx="17007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approval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approves; the hall ticket follows only then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754880" y="1280160"/>
            <a:ext cx="384048" cy="384048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601968" y="2148840"/>
            <a:ext cx="146304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766560" y="14630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76288" y="1517904"/>
            <a:ext cx="17007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 ticket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Papers, campus, room and seat; set-up of campuses and timetable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858000" y="1280160"/>
            <a:ext cx="384048" cy="384048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57200" y="320040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66928" y="3255264"/>
            <a:ext cx="17007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Seating and attendance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Seating plan; Present or Absent; absentee is AAA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48640" y="3017520"/>
            <a:ext cx="384048" cy="384048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395728" y="3886200"/>
            <a:ext cx="146304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2560320" y="320040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70048" y="3255264"/>
            <a:ext cx="17007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entry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 sign-ins, any number, working side by side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2651760" y="3017520"/>
            <a:ext cx="384048" cy="384048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4498848" y="3886200"/>
            <a:ext cx="146304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4663440" y="320040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73168" y="3255264"/>
            <a:ext cx="17007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and freeze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back with a note, or frozen and submitted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754880" y="3017520"/>
            <a:ext cx="384048" cy="384048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601968" y="3886200"/>
            <a:ext cx="146304" cy="0"/>
          </a:xfrm>
          <a:prstGeom prst="line">
            <a:avLst/>
          </a:prstGeom>
          <a:noFill/>
          <a:ln w="31750">
            <a:solidFill>
              <a:srgbClr val="6B1E2E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6766560" y="320040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76288" y="3255264"/>
            <a:ext cx="17007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and results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board, then Pass, RA or AAA published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858000" y="3017520"/>
            <a:ext cx="384048" cy="384048"/>
          </a:xfrm>
          <a:prstGeom prst="ellipse">
            <a:avLst/>
          </a:prstGeom>
          <a:solidFill>
            <a:srgbClr val="6B1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Promotion to the next semester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23444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6928" y="1289304"/>
            <a:ext cx="24323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work pending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cleared in semesters 1 and 2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246120" y="123444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5848" y="1289304"/>
            <a:ext cx="24323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Six-month report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approved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035040" y="123444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144768" y="1289304"/>
            <a:ext cx="24323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constituted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60604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" y="2660904"/>
            <a:ext cx="24323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Doctoral Committee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not held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246120" y="260604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55848" y="2660904"/>
            <a:ext cx="24323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or passed out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 on the list, or supervisor on open exit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35040" y="260604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44768" y="2660904"/>
            <a:ext cx="24323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pending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admissions start in semester 1 automatically. From semester 2 onwards, promotion is done manually.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Registers, lists and printed records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234440"/>
            <a:ext cx="2651760" cy="3291840"/>
          </a:xfrm>
          <a:prstGeom prst="roundRect">
            <a:avLst>
              <a:gd name="adj" fmla="val 2759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325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2377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list with Details on demand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cards filter the list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Vice Chancellor has read-only view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agree across every screen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46120" y="1234440"/>
            <a:ext cx="2651760" cy="3291840"/>
          </a:xfrm>
          <a:prstGeom prst="roundRect">
            <a:avLst>
              <a:gd name="adj" fmla="val 2759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83280" y="1325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and exports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1783080"/>
            <a:ext cx="2377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and PDF on every list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columns to export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column can be sorted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Registration-number order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035040" y="1234440"/>
            <a:ext cx="2651760" cy="3291840"/>
          </a:xfrm>
          <a:prstGeom prst="roundRect">
            <a:avLst>
              <a:gd name="adj" fmla="val 2759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72200" y="1325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and attendance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1783080"/>
            <a:ext cx="2377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black-and-white tables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A4 with header and footer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and Absent on every sheet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Seating plans for notice boards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website and search visibility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23444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6928" y="1289304"/>
            <a:ext cx="243230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 by search engines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profiles are built on the server as plain pages, refreshed within minutes of an edit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246120" y="123444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5848" y="1289304"/>
            <a:ext cx="243230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page for each supervisor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address, title and description, so a name search leads to the profile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035040" y="123444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144768" y="1289304"/>
            <a:ext cx="243230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data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University, website, supervisors, areas of research and Vidwan links described for search engines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97180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" y="3026664"/>
            <a:ext cx="243230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Sitemap and robots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pages and supervisor profiles listed; portals and sign-in pages kept out of search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246120" y="297180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55848" y="3026664"/>
            <a:ext cx="243230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and images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cards for social sharing; photographs carry descriptive text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35040" y="297180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44768" y="3026664"/>
            <a:ext cx="243230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kept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public profile fields are published; no sign-in e-mail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B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Records, security and control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123444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66928" y="1289304"/>
            <a:ext cx="243230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menus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sign-in sees only its menus; the administrator grants sub-menu rights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246120" y="123444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5848" y="1289304"/>
            <a:ext cx="243230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carry the name, date and time; registration numbers are logged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035040" y="123444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144768" y="1289304"/>
            <a:ext cx="243230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file storage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in a private store; opened only after sign-in through short-lived links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97180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" y="3026664"/>
            <a:ext cx="243230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saves every table; another restores a saved copy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246120" y="297180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55848" y="3026664"/>
            <a:ext cx="243230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Reopen a step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Reopening clears that step's work so it is redone in full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35040" y="297180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4EEF0"/>
          </a:solidFill>
          <a:ln w="9525">
            <a:solidFill>
              <a:srgbClr val="D9CDD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44768" y="3026664"/>
            <a:ext cx="243230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6B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testing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 a test session and nothing is left behind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A9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Way forward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411480" cy="411480"/>
          </a:xfrm>
          <a:prstGeom prst="ellipse">
            <a:avLst/>
          </a:prstGeom>
          <a:solidFill>
            <a:srgbClr val="C8A2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137160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and department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them so the registration number format can be completed with the COE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240280"/>
            <a:ext cx="411480" cy="411480"/>
          </a:xfrm>
          <a:prstGeom prst="ellipse">
            <a:avLst/>
          </a:prstGeom>
          <a:solidFill>
            <a:srgbClr val="C8A2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14884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service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provider for notifications to candidates, scholars and supervisors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411480" cy="411480"/>
          </a:xfrm>
          <a:prstGeom prst="ellipse">
            <a:avLst/>
          </a:prstGeom>
          <a:solidFill>
            <a:srgbClr val="C8A2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92608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acceptance test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Dean, Accounts, COE and supervisors try their own screens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794760"/>
            <a:ext cx="411480" cy="411480"/>
          </a:xfrm>
          <a:prstGeom prst="ellipse">
            <a:avLst/>
          </a:prstGeom>
          <a:solidFill>
            <a:srgbClr val="C8A2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A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70332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 and training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build, user accounts, short training for each role</a:t>
            </a:r>
            <a:endParaRPr lang="en-US" sz="18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548640" y="132588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earch ERP">
  <a:themeElements>
    <a:clrScheme name="Research ERP">
      <a:dk1>
        <a:srgbClr val="2A2A33"/>
      </a:dk1>
      <a:lt1>
        <a:srgbClr val="FFFFFF"/>
      </a:lt1>
      <a:dk2>
        <a:srgbClr val="6B1E2E"/>
      </a:dk2>
      <a:lt2>
        <a:srgbClr val="F4EEF0"/>
      </a:lt2>
      <a:accent1>
        <a:srgbClr val="6B1E2E"/>
      </a:accent1>
      <a:accent2>
        <a:srgbClr val="C8A24A"/>
      </a:accent2>
      <a:accent3>
        <a:srgbClr val="3E5C76"/>
      </a:accent3>
      <a:accent4>
        <a:srgbClr val="7A8B6F"/>
      </a:accent4>
      <a:accent5>
        <a:srgbClr val="9C4A5A"/>
      </a:accent5>
      <a:accent6>
        <a:srgbClr val="5B4B8A"/>
      </a:accent6>
      <a:hlink>
        <a:srgbClr val="6B1E2E"/>
      </a:hlink>
      <a:folHlink>
        <a:srgbClr val="5B4B8A"/>
      </a:folHlink>
    </a:clrScheme>
    <a:fontScheme name="Research ERP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 ERP - Workflows and working</dc:title>
  <dc:subject>PptxGenJS Presentation</dc:subject>
  <dc:creator>Research Office</dc:creator>
  <cp:lastModifiedBy>Research Office</cp:lastModifiedBy>
  <cp:revision>1</cp:revision>
  <dcterms:created xsi:type="dcterms:W3CDTF">2026-10-24T17:50:59Z</dcterms:created>
  <dcterms:modified xsi:type="dcterms:W3CDTF">2026-10-24T17:50:59Z</dcterms:modified>
</cp:coreProperties>
</file>